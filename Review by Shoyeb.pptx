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3"/>
    <p:restoredTop sz="94775"/>
  </p:normalViewPr>
  <p:slideViewPr>
    <p:cSldViewPr snapToGrid="0">
      <p:cViewPr varScale="1">
        <p:scale>
          <a:sx n="95" d="100"/>
          <a:sy n="95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0282B-E40A-604E-A56B-25EF8584C94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E5048-93AC-9948-B017-4A5BEEB02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2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E5048-93AC-9948-B017-4A5BEEB02B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68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E5048-93AC-9948-B017-4A5BEEB02B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44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12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6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17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6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9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4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8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96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1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7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0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eongChanLee/ICD2Vec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ustin13601/AnnoDash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yunamister/omop2oce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7425489/" TargetMode="External"/><Relationship Id="rId2" Type="http://schemas.openxmlformats.org/officeDocument/2006/relationships/hyperlink" Target="https://www.sciencedirect.com/science/article/pii/S1532046423000825#s002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12505588/" TargetMode="External"/><Relationship Id="rId5" Type="http://schemas.openxmlformats.org/officeDocument/2006/relationships/hyperlink" Target="https://www.sciencedirect.com/science/article/pii/S1386505625000176?via%3Dihub" TargetMode="External"/><Relationship Id="rId4" Type="http://schemas.openxmlformats.org/officeDocument/2006/relationships/hyperlink" Target="https://www.sciencedirect.com/science/article/pii/S153204642400100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36A51-117D-3921-F260-6B2BF42BA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>
                <a:latin typeface="Zapfino" panose="03030300040707070C03" pitchFamily="66" charset="77"/>
              </a:rPr>
              <a:t>Review of 4 papers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C3369-D7BE-CACC-D030-2FEBCD127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Mohammed Shoyeb</a:t>
            </a:r>
          </a:p>
        </p:txBody>
      </p:sp>
      <p:pic>
        <p:nvPicPr>
          <p:cNvPr id="4" name="Picture 3" descr="Files">
            <a:extLst>
              <a:ext uri="{FF2B5EF4-FFF2-40B4-BE49-F238E27FC236}">
                <a16:creationId xmlns:a16="http://schemas.microsoft.com/office/drawing/2014/main" id="{88B532C0-4A99-A1EE-6514-BF70410B7D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5" r="24282" b="-1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1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C5F0-5B41-1121-DA32-AB95C40B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ICD2Vec: Disease Embedding Framework (2023)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15FE7-C580-C494-5F7A-ECE68FF00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vector embeddings for ICD-10 codes that capture semantic and biological relationships across diseases.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Gaps Addressed: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unified semantic representation for ICD codes.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correlation between ICD structure and clinical/comorbidity similarity.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/ Method: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ICD2Vec, embedding ICD-10 textual definitions using transformer-based models (BERT,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GatorTron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mean-pooled token vectors and validated via comorbidity, network, and GWAS correlation tests.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70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D2037-96D3-BAC4-579B-326B153FA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Solution: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machine-readable disease relationships for predictive modeling and research linking EHRs to genetics.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Comparison: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AUROC for IRIS risk scores: 0.58–0.69 across diseases.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correlation between embedding cosine similarity and comorbidity/genetic association (p &lt; 0.001).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https://github.com/YeongChanLee/ICD2Vec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29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766DA-70CD-1030-32F1-801596740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/>
              <a:t>AnnoDash</a:t>
            </a:r>
            <a:r>
              <a:rPr lang="en-US" b="0" dirty="0"/>
              <a:t>: Interactive Annotation Dashboard (2023)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E7CC9-DEE4-9982-9D10-068521DAB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interactive dashboard for mapping local clinical terms to standard ontologies (SNOMED, LOINC, ICD, OMOP).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Gaps Addressed: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ontology mapping is time-consuming and inconsistent.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tools offering visual + contextual search for healthcare annotations.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/ Method: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AnnoDash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-Dash, integrating fuzzy matching, TF-IDF, and SQLite FTS5 search; optional LLM re-ranking, and visualization of ontology matches.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300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0F02C-A77D-E37B-2058-E53987F12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Solution: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speed, usability, and visual context for human-in-the-loop ontology alignment.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Comparison: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latency: Fuzzy = 9.0 s, TF-IDF = 1.26 s, SQLite/FTS5 = 0.82 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annotation time: 2.5 min per concept (n = 4 users).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https://github.com/justin13601/AnnoDash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329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1E45-47A5-0727-4DC2-53DEB526E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OMOP → OCEL: Object-Centric Event Log Transformation (2024)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C80A7-816E-5372-98F9-BD19BD1EA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transform OMOP Common Data Model into Object-Centric Event Logs (OCEL) for process mining in healthcare.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Gaps Addressed: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mining limited to activity-centric models; OMOP lacks event-object linkage.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standardized transformation pipeline for clinical process analysis.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/ Method: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two-phase pipeline (OMOP→CDM4PM→OCEL) adding object types, SNOMED-based abstraction levels, and event mapping for MIMIC-IV datasets.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946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32C74-158F-CEDB-396E-1E6ECECAC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Solution: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object-centric process mining that captures multi-entity (patient, visit, lab) interactions in EHR workflows.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Comparison: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to 3 MIMIC-IV subsets (S/IP/ED).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Showed reduction in event-type count after abstraction (improved interpretability).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completeness/conformance, but lacks clinician validation.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https://github.com/gyunamister/omop2ocel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00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5AE3-4483-FFFA-7C30-C35C41C7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 Language Models vs Humans for ICD Coding (2025)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3A047-D228-99A9-9A8A-A47430F1C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GPT-3.5 and GPT-4 with human coders for assigning ICD-10 codes to complex discharge summaries.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Gaps Addressed: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ML models fail on ambiguous/unseen cases.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Unclear how LLMs perform vs trained coders on “hard” MIMIC cases.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/ Method: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Zero-shot evaluation of GPT-3.5/4 on 802 hard MIMIC-IV summaries (missed by ML+SNOMED), with human coder baseline (n=5).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245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10A7E-63A6-9681-EA7C-B36CF3333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Solution: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may generalize better to complex narratives without explicit feature engineering.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Comparison: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GPT-4 run consistency: 86–89% (vs GPT-3.5: 57–67%).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(100-sample test): GPT-4 = 22%, matching median human.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ML (Random Forest) F1: 85–95% (on easier, binary-labeled tasks).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code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977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2104F-B1A4-603C-8693-6343770F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healthcare system for rare disease diagnosis utilizing electronic health records based on a knowledge-guided multimodal transformer framework(Oct 2025)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D272-B181-557F-651C-CA2BB9D16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knowledge-guided multimodal AI system that uses MIMIC-IV EHRs, medical imaging, and genomic data, integrated through SNOMED CT–based normalization, to improve rare disease diagnosis accuracy and interpretability.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Used 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EHR Module: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Med-BERT and Transformer-XL to extract medical and temporal features from MIMIC-IV records.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EHR terms normalized using SNOMED CT and UMLS for consistency.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Imaging Module: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Swin Transformer to analyze chest X-rays and extract deep image features.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Genomic Module: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Graph Neural Network (GNN) to capture gene–disease and variant relationships.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Layer: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all modalities through Knowledge-Guided Contrastive Learning (KGCL)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Orphanet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ontology (linked to SNOMED CT).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Nutcracker Optimization Algorithm (NOA) automatically tunes model hyperparameters for best performance.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508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1D855-B41C-A878-8DDC-F23A16EA6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094" y="733895"/>
            <a:ext cx="11086294" cy="57879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Solution Was Used 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need: Rare diseases require analyzing EHRs, imaging, and genomics together — single-modality models miss key clues.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Knowledge-guided design: Using SNOMED CT, UMLS,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Orphanet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real medical meaning to model learning.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context: Transformer-XL captures how patient conditions evolve over time.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 NOA optimizer reduces manual tuning for large, complex models.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Achieve accurate, explainable, and early rare disease detection across multiple data types.</a:t>
            </a:r>
          </a:p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SNOMED CT and MIMIC-IV :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SNOMED CT: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EHR preprocessing to standardize medical terms.</a:t>
            </a:r>
          </a:p>
          <a:p>
            <a:pPr lvl="1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patient notes from MIMIC-IV are mapped to SNOMED CT/UMLS concepts for consistent terminology.</a:t>
            </a:r>
          </a:p>
          <a:p>
            <a:pPr lvl="1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model understands medical terms in a unified clinical language.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MIMIC-IV: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main EHR dataset containing ICU and clinical records.</a:t>
            </a:r>
          </a:p>
          <a:p>
            <a:pPr lvl="1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extracted, cleaned, and normalized via SNOMED CT mappings.</a:t>
            </a:r>
          </a:p>
          <a:p>
            <a:pPr lvl="1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Supplies the textual and structured input for the Med-BERT + Transformer-XL module.</a:t>
            </a:r>
          </a:p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Summary: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EHR data from MIMIC-IV.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terms with SNOMED CT/UMLS.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 with Med-BERT + Transformer-XL.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Fuse with image and genomic features using knowledge-guided contrastive learning.</a:t>
            </a:r>
          </a:p>
        </p:txBody>
      </p:sp>
    </p:spTree>
    <p:extLst>
      <p:ext uri="{BB962C8B-B14F-4D97-AF65-F5344CB8AC3E}">
        <p14:creationId xmlns:p14="http://schemas.microsoft.com/office/powerpoint/2010/main" val="2237852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34E72-5D83-12FE-D374-3D03861EA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537881"/>
            <a:ext cx="11301447" cy="605117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Gaps Addressed: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models ignored multimodal data → this integrates EHR, imaging, genomics.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domain knowledge → adds SNOMED CT, UMLS,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Orphanet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medical reasoning.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Hard-to-tune deep models → solved using Nutcracker Optimization Algorithm (NOA).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interpretability → fixed by knowledge-guided contrastive learning (KGCL).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Limitations (Unresolved Issues):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large, well-annotated multimodal datasets.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MIMIC-IV is from one hospital → limited generalization.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 (GPU-heavy).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SNOMED CT coverage for some rare diseases incomplete.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Solution Is Better Than Others: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EHR, imaging, and genomics → captures complete patient view.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SNOMED CT + UMLS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Orphanet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adds real clinical knowledge and interpretability.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Med-BERT, Swin Transformer, and GNN → stronger feature extraction than old CNN/RNN models.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NOA optimizer → automatic fine-tuning, faster convergence.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Outperforms baselines with ~91.7% accuracy, AUC 94.1% vs ~85% in previous models.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38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5B75-6133-B20E-2AEB-9782CF2A7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7" y="785293"/>
            <a:ext cx="10653578" cy="1132258"/>
          </a:xfrm>
        </p:spPr>
        <p:txBody>
          <a:bodyPr/>
          <a:lstStyle/>
          <a:p>
            <a:r>
              <a:rPr lang="en-US" dirty="0"/>
              <a:t>References: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06238B-70E5-7EE6-4A77-7612610ECD9F}"/>
              </a:ext>
            </a:extLst>
          </p:cNvPr>
          <p:cNvSpPr txBox="1">
            <a:spLocks/>
          </p:cNvSpPr>
          <p:nvPr/>
        </p:nvSpPr>
        <p:spPr>
          <a:xfrm>
            <a:off x="1069847" y="1344705"/>
            <a:ext cx="10686723" cy="5244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ICD2Vec: Mathematical representation of diseases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https://www.sciencedirect.com/science/article/pii/S1532046423000825#s0020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AnnoDash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clinical terminology annotation dashboard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https://pubmed.ncbi.nlm.nih.gov/37425489/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healthcare process analysis through object-centric process mining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https://www.sciencedirect.com/science/article/pii/S153204642400100X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vs human for classifying clinical documents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https://www.sciencedirect.com/science/article/pii/S1386505625000176?via%3Dihub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healthcare system for rare disease diagnosis…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https://pmc.ncbi.nlm.nih.gov/articles/PMC12505588/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92594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1307</Words>
  <Application>Microsoft Macintosh PowerPoint</Application>
  <PresentationFormat>Widescreen</PresentationFormat>
  <Paragraphs>110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Neue Haas Grotesk Text Pro</vt:lpstr>
      <vt:lpstr>Times New Roman</vt:lpstr>
      <vt:lpstr>Zapfino</vt:lpstr>
      <vt:lpstr>VanillaVTI</vt:lpstr>
      <vt:lpstr>Review of 4 papers</vt:lpstr>
      <vt:lpstr>ICD2Vec: Disease Embedding Framework (2023)</vt:lpstr>
      <vt:lpstr>PowerPoint Presentation</vt:lpstr>
      <vt:lpstr>AnnoDash: Interactive Annotation Dashboard (2023)</vt:lpstr>
      <vt:lpstr>PowerPoint Presentation</vt:lpstr>
      <vt:lpstr>OMOP → OCEL: Object-Centric Event Log Transformation (2024)</vt:lpstr>
      <vt:lpstr>PowerPoint Presentation</vt:lpstr>
      <vt:lpstr>Large Language Models vs Humans for ICD Coding (2025) </vt:lpstr>
      <vt:lpstr>PowerPoint Presentation</vt:lpstr>
      <vt:lpstr>An intelligent healthcare system for rare disease diagnosis utilizing electronic health records based on a knowledge-guided multimodal transformer framework(Oct 2025) </vt:lpstr>
      <vt:lpstr>PowerPoint Presentation</vt:lpstr>
      <vt:lpstr>PowerPoint Presentation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Shoyeb Lnu</dc:creator>
  <cp:lastModifiedBy>Mohammed Shoyeb Lnu</cp:lastModifiedBy>
  <cp:revision>1</cp:revision>
  <dcterms:created xsi:type="dcterms:W3CDTF">2025-10-21T01:23:11Z</dcterms:created>
  <dcterms:modified xsi:type="dcterms:W3CDTF">2025-10-21T13:45:57Z</dcterms:modified>
</cp:coreProperties>
</file>