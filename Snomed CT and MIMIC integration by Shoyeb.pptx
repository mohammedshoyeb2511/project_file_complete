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1"/>
    <p:restoredTop sz="94702"/>
  </p:normalViewPr>
  <p:slideViewPr>
    <p:cSldViewPr snapToGrid="0">
      <p:cViewPr varScale="1">
        <p:scale>
          <a:sx n="86" d="100"/>
          <a:sy n="86" d="100"/>
        </p:scale>
        <p:origin x="224" y="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78331-5F0F-5C40-BFDF-C6C14749AB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08ED3-49D8-094E-B3FE-35695A49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03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08ED3-49D8-094E-B3FE-35695A49FC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1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10/14/25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eongChanLee/ICD2Vec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yunamister/omop2oce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7425489/" TargetMode="External"/><Relationship Id="rId2" Type="http://schemas.openxmlformats.org/officeDocument/2006/relationships/hyperlink" Target="https://www.sciencedirect.com/science/article/pii/S1532046423000825#s002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pii/S1386505625000176?via%3Dihub" TargetMode="External"/><Relationship Id="rId4" Type="http://schemas.openxmlformats.org/officeDocument/2006/relationships/hyperlink" Target="https://www.sciencedirect.com/science/article/pii/S153204642400100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horoptor">
            <a:extLst>
              <a:ext uri="{FF2B5EF4-FFF2-40B4-BE49-F238E27FC236}">
                <a16:creationId xmlns:a16="http://schemas.microsoft.com/office/drawing/2014/main" id="{266C757F-8FFA-A678-5836-3A366BD0D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4A042-726F-B380-78E8-A178666B4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b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Snomed</a:t>
            </a:r>
            <a:r>
              <a:rPr lang="en-US" dirty="0">
                <a:solidFill>
                  <a:srgbClr val="FFFFFF"/>
                </a:solidFill>
              </a:rPr>
              <a:t> CT + Mimic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14015-83DA-6283-BDC3-37D929556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Mohammed Shoyeb</a:t>
            </a:r>
          </a:p>
        </p:txBody>
      </p:sp>
    </p:spTree>
    <p:extLst>
      <p:ext uri="{BB962C8B-B14F-4D97-AF65-F5344CB8AC3E}">
        <p14:creationId xmlns:p14="http://schemas.microsoft.com/office/powerpoint/2010/main" val="421065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04D1-F8BC-93B3-3B3D-1BDA917A1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62814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ICD2Vec: Mathematical representation of diseases(May 2023)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E7865-8C9C-2FB0-83FD-0B104E1D9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91" y="1383323"/>
            <a:ext cx="11234056" cy="5254983"/>
          </a:xfrm>
        </p:spPr>
        <p:txBody>
          <a:bodyPr>
            <a:normAutofit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pPr lvl="1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ICD2Vec transforms 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ICD-10 codes into vector embeddings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that capture semantic and biological relationships among diseases.</a:t>
            </a:r>
          </a:p>
          <a:p>
            <a:pPr lvl="1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these embeddings: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 medical meaning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 biological data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 disease risk prediction using the ICD2Vec Risk Score (IRIS).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Used:</a:t>
            </a:r>
          </a:p>
          <a:p>
            <a:pPr lvl="1"/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Framework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 NLP models to encode:</a:t>
            </a:r>
          </a:p>
          <a:p>
            <a:pPr lvl="3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ICD-10 definitions, synonyms, and clinical descriptions</a:t>
            </a:r>
          </a:p>
          <a:p>
            <a:pPr lvl="3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 dense numerical vectors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 Used:</a:t>
            </a:r>
          </a:p>
          <a:p>
            <a:pPr lvl="3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lvl="3"/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FastText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</a:p>
          <a:p>
            <a:pPr lvl="3"/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BioBERT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Bio+ClinicalBERT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GatorTron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(fine-tuned on ICD corpus)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378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ADC05-71CC-F050-EA4C-62097BB7F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98616"/>
            <a:ext cx="10058400" cy="5602184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Fine-tuning: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Masked Language Modeling (MLM) on ICD-10 definitions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extraction: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Sentence-level vectors using average pooling of last hidden layer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Python + Hugging Face + NVIDIA </a:t>
            </a:r>
            <a:r>
              <a:rPr lang="en-US" alt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NeMo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Techniques: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Analogical reasoning: Vector arithmetic for semantic relations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 validation: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 cosine similarity of ICD2Vec vectors with: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 comorbidity risks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proximity of diseases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Genetic correlations (GWAS)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ICD-10-CM codes: 24,354 codes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139k+ medical terms with synonyms and descriptions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from NIH and MedlinePlus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Datasets: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UK Biobank: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500,000+ participants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Medical Center (SMC):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209,000+ EHR patients (2010–2020)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C52A5F-18EA-A6ED-BFED-F76E05FE5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0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7D175-B750-7C59-188A-283B255BA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823892"/>
            <a:ext cx="10058400" cy="5348308"/>
          </a:xfrm>
        </p:spPr>
        <p:txBody>
          <a:bodyPr>
            <a:normAutofit fontScale="92500" lnSpcReduction="1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Similarity: Disease vector relationships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Correlation: Biological associations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 Metrics: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Hazard Ratios (HR)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AUROC for 8 major diseases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CAD Prediction → AUROC ≈ 0.59, HR = 2.15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 Extract disease names, synonyms, and tokenize text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Generation: Fine-tune BERT-based models → vector (768–1024D) per ICD code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Validation: Compare cosine similarities with comorbidity, network, and genetic data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Score Generation: Compute IRIS from patient disease vectors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Evaluation: Compare against Med2Vec, ICD-Codex, TF-IDF baselines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available:  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GitHub: YeongChanLee/ICD2Vec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 used: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NeMo</a:t>
            </a: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scripts for IRIS computation and validation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934CBA-CDB4-4EFC-1D01-33A2ECA0A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B40AC6C-E860-A61E-F2A8-212FEE9CFE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3599" y="1405353"/>
            <a:ext cx="879854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Gaps/limitations: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nterpretability: ICD2Vec similarities may not imply clinical causality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Dependence: Relies heavily on English ICD text quality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Ontology Limitation: Does not model procedures or findings (non-disease concepts)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Risk: Pretrained models may inherit demographic bias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 GPT-based embeddings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to SNOMED CT and multilingual data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interpretability using ontology-guided attention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42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9944-91C0-1F58-6510-B2901875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17009"/>
            <a:ext cx="10058400" cy="1609344"/>
          </a:xfrm>
        </p:spPr>
        <p:txBody>
          <a:bodyPr>
            <a:no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AnnoDash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clinical terminology annotation dashboard(oct 2023)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A56FF-E986-AD26-A323-C6BF1A887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8166"/>
            <a:ext cx="10058400" cy="466403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AnnoDash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an open-source dashboard designed for mapping local medical terms (e.g., “HR”, “Creatinine”) to standard terminologies such as: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SNOMED CT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LOINC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ICD-10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OMOP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candidate retrieval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LLM-based re-ranking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Make clinical term annotation faster, more accurate, and context-aware.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Multi-method search &amp; candidate retrieval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 LLM re-ranking (GPT-3.5 / Cohere)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 dashboard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ontology database (SQLite)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Docker-based deployment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Clinician usability tested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3ABD84-8C4A-D5E8-CAA8-D9E09DF04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1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996C0-BD33-AF4A-AB89-C5A61ABBF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53894"/>
            <a:ext cx="10058400" cy="553278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– Framework Overview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&amp; </a:t>
            </a:r>
            <a:r>
              <a:rPr lang="en-US" altLang="en-US" sz="15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1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 </a:t>
            </a:r>
            <a:r>
              <a:rPr lang="en-US" altLang="en-US" sz="1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 (Python) for interactivity &amp; visualization.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Retrieval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Fuzzy Matching: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Jaro–Winkler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 Search</a:t>
            </a: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FTS5 (Lucene Preprocessor)</a:t>
            </a: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Re-ranking 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 OpenAI GPT-3.5 or Cohere Re-rank API, Incorporates textual + numerical context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Data Handling: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Tools:</a:t>
            </a: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Patient-level measurement distributions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Time-series plots for verification</a:t>
            </a:r>
          </a:p>
          <a:p>
            <a:pPr marL="46863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SQLite relational DB</a:t>
            </a:r>
          </a:p>
          <a:p>
            <a:pPr marL="46863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Fully containerized with Docker</a:t>
            </a:r>
          </a:p>
          <a:p>
            <a:pPr marL="46863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Cloud-ready: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Includes GCP deployment template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 Testing: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Conducted pilot study with 4 clinical users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 qualitative feedback via questionnaires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annotation time ≈ 2.5 minutes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perceived usability, flexibility, and </a:t>
            </a:r>
            <a:r>
              <a:rPr lang="en-US" altLang="en-US" sz="1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B3F8CA-2DFC-60F7-047F-9EF29598D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82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EFC45F0A-23DA-925F-A3C8-3AE3753348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974" y="924233"/>
            <a:ext cx="986719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Ontologies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 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MIMIC-IV demo data (100 patients)</a:t>
            </a: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Ontologies Used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LOINC v2.73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Lab tests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SNOMED CT (07/31/2022)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Clinical findings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ICD-10-CM 2022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Diagnoses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OMOP v5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Standardized concepts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Scripts build 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 tables &amp; Lucene indexes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retrieval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 Metrics:</a:t>
            </a:r>
            <a:endParaRPr lang="en-US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annotation time ≈ </a:t>
            </a: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 min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user feedback on speed, flexibility, and accuracy.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GitHub + </a:t>
            </a:r>
            <a:r>
              <a:rPr lang="en-US" altLang="en-US" sz="1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DOI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Interactive dashboard with dropdowns &amp; dynamic plots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SQLite for ontology storage, optional Lucene integration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One-command Docker setup, demo MIMIC dataset included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Module: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Optional &amp; disabled by default (to avoid API cost)</a:t>
            </a:r>
          </a:p>
        </p:txBody>
      </p:sp>
    </p:spTree>
    <p:extLst>
      <p:ext uri="{BB962C8B-B14F-4D97-AF65-F5344CB8AC3E}">
        <p14:creationId xmlns:p14="http://schemas.microsoft.com/office/powerpoint/2010/main" val="132963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6CFD2-DBEB-675A-AAFD-CAF11B7DD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886340"/>
            <a:ext cx="10058400" cy="5285859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</a:t>
            </a:r>
          </a:p>
          <a:p>
            <a:pPr marL="89154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Layer: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Upload/select local concepts (e.g., “HR”)</a:t>
            </a:r>
          </a:p>
          <a:p>
            <a:pPr marL="89154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Generation:</a:t>
            </a:r>
          </a:p>
          <a:p>
            <a:pPr lvl="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</a:p>
          <a:p>
            <a:pPr lvl="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lvl="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SQLite/Lucene searches (parallel)</a:t>
            </a:r>
          </a:p>
          <a:p>
            <a:pPr marL="89154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Matching: 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scoring + hover-over visualization</a:t>
            </a:r>
          </a:p>
          <a:p>
            <a:pPr marL="89154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LLM Re-ranking: 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GPT/Cohere for semantic &amp; numeric context</a:t>
            </a:r>
          </a:p>
          <a:p>
            <a:pPr marL="89154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Dashboard: 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Distributions, time-series, validation plots</a:t>
            </a:r>
          </a:p>
          <a:p>
            <a:pPr marL="891540" lvl="2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 Storage: 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mappings stored in SQLite database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Gaps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large-scale quantitative validation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(e.g., </a:t>
            </a:r>
            <a:r>
              <a:rPr lang="en-US" altLang="en-US" sz="1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recall)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only on MIMIC-IV demo data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limited generalization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context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not integrated into initial retrieval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not optimized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for large ontologies / dense vector search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active learning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or adaptive ranking via user feedback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usability study (n=4)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→ low statistical power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A777DC-E548-5AF1-64DC-2E3274E6C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23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B8B3-ED45-9028-8C6F-53A6BAA0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96508"/>
            <a:ext cx="10058400" cy="160934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healthcare process analysis through object-centric process mining: Transforming OMOP common data models into object-centric event logs(Aug 2024)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85B6FE-4C45-80AF-954F-75155CA780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3752" y="2105852"/>
            <a:ext cx="1064101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 patient-centric process mining focuses only on patient event sequences.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paper introduces Object-Centric Process Mining (OCPM) — a method that captures multi-entity interactions across: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Providers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Presents a transformation pipeline from OMOP Common Data Model (CDM) → Object-Centric Event Logs (OCEL).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 multi-object workflow analysis for complex healthcare systems.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Validated using MIMIC-IV dataset.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involves interconnected entities (patients, staff, devices, medications)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process mining flattens these relationships → loss of context.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OCPM models these as linked objects and events, allowing: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Cross-entity process discovery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traceability and clinical insight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Richer workflow analytics</a:t>
            </a:r>
          </a:p>
        </p:txBody>
      </p:sp>
    </p:spTree>
    <p:extLst>
      <p:ext uri="{BB962C8B-B14F-4D97-AF65-F5344CB8AC3E}">
        <p14:creationId xmlns:p14="http://schemas.microsoft.com/office/powerpoint/2010/main" val="117689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6DF0181-4583-12F0-8AEA-9E1A65C12D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6082" y="413266"/>
            <a:ext cx="10199835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Overview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Concept: Object-Centric Process Mining (OCPM)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interactions between multiple entities.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Represents each object (patient, provider, device) and event with interlinked identifiers.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Two-Phase Transformation Framework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OMOP CDM → OMOP CDM4PM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and standardizes event/object/concept tables.</a:t>
            </a:r>
          </a:p>
          <a:p>
            <a:pPr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OMOP’s standardized vocabularies.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OMOP CDM4PM → OCEL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Maps entities and clinical events into OCEL format for OCPM tools.</a:t>
            </a:r>
          </a:p>
          <a:p>
            <a:pPr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SNOMED CT–Based Event Mapping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 SNOMED CT hierarchy to abstract events at multiple levels: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High-level: General activity (e.g., “Medication Administration”)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Mid-level: Specific category (e.g., “Antibiotic administration”)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Low-level: Exact procedure or lab test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 multi-granular process analysis — clinicians can zoom in/out on process detail.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Framework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Evaluates: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Completeness: Event &amp; object count preservation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Conformance: Structural consistency (e.g., visit durations, identifiers)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Plausibility: Logical alignment of relationships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fidelity across the OMOP→OCEL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1200143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9CB25-C53B-432E-4458-55AEB2B03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748145"/>
            <a:ext cx="10058400" cy="542405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Evaluation Metrics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MIMIC-IV (Beth Israel Deaconess Medical Center, 2008–2019, ~257K patient visits).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subsets: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MIMIC-IV-S (100 patients, mixed visits)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MIMIC-IV-IP (1,088 inpatient visits)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MIMIC-IV-ED (913 emergency visits)</a:t>
            </a:r>
          </a:p>
          <a:p>
            <a:pPr lvl="1">
              <a:buFont typeface="Wingdings" pitchFamily="2" charset="2"/>
              <a:buChar char="q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event and object counts before/after transformation.</a:t>
            </a:r>
          </a:p>
          <a:p>
            <a:pPr lvl="1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Conformance: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patient counts, visit durations, and consistency.</a:t>
            </a:r>
          </a:p>
          <a:p>
            <a:pPr lvl="1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Quality: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 reduction in event and event-type counts when moving from low- to high-level representation </a:t>
            </a:r>
          </a:p>
          <a:p>
            <a:pPr lvl="1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repository: 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https://github.com/gyunamister/omop2ocel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Language: Python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utilities: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OMOP tables (Procedure, Drug Exposure, Observation, Measurement, Condition) → OCEL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Utilizes OMOP vocabulary relationships for standard mapping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Compatible tools: PM4Py, </a:t>
            </a:r>
            <a:r>
              <a:rPr lang="en-US" altLang="en-US" sz="1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 OCPM analysis)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055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BBE4168-A19D-ED50-147D-5D82A93A7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975" y="862727"/>
            <a:ext cx="946343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1 – OMOP CDM → OMOP CDM4PM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 event tables: Procedure, Drug, Condition, Measurement, Observation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 object tables: Person, Visit, Provider, Care Site, Device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 event–object and event–concept relationships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 – OMOP CDM4PM → OCEL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 identifiers and timestamps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 event types (High/Mid/Low SNOMED abstraction)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 object types (patient, visit, provider, device)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 event ↔ object mappings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 OCEL files for process mining visualization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domain expert validation (limited clinical review)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Abstraction-level optimization missing (no automatic granularity tuning)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 not yet tested on full-scale institutional datasets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rules for missing/inconsistent codes undefined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integration with real-time or predictive process mining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69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DA5C-3E8A-1910-EFD4-9A91EB3E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42129"/>
            <a:ext cx="10058400" cy="160934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vs human for classifying clinical document(Mar 2025)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234C06-FE5D-46E9-766F-4ABF3A596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6146" y="1563755"/>
            <a:ext cx="1065354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Evaluates how LLMs (ChatGPT-3.5 &amp; GPT-4) compared to Machine Learning, SNOMED CT mapping, and human coders for ICD-10 classification of discharge summaries.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Improve clinical coding accuracy for billing, research, and patient care.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Focus: LLMs’ ability to handle ambiguous or unclassified records missed by ML/SNOMED.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Machine Learning (ML)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Models: Decision Tree, Naive Bayes, KNN, Logistic Regression, Random Forest.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Best: Random Forest (F1 ≈ 95%)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CUIs extracted via </a:t>
            </a:r>
            <a:r>
              <a:rPr lang="en-US" altLang="en-US" sz="1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cTAKES</a:t>
            </a: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Bag-of-Words (affirmed/negated terms).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10-fold cross-validation.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SNOMED CT Mapping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SNOMED terms → ICD-10 mapping (238K code pairs).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Truncated to ICD-10 Level-3 (e.g., A41.9 → A41).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varied by disease (I25 = 89%, Z51 = 0.5%).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Large Language Models (LLMs)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Models: ChatGPT-3.5, GPT-4 (zero-shot)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Prompt: “As a clinical coder, would you assign [ICD-10 code]?”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GPT-3.5 (57–67%), GPT-4 (86–89%)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 accuracy = 22%, equal to median human coder.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Human Coders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range: </a:t>
            </a:r>
            <a:r>
              <a:rPr lang="en-US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10–47% (median 22%)</a:t>
            </a:r>
            <a:endParaRPr lang="en-US" alt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042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3E7F-6434-53C9-74F4-7A5306588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94" y="857992"/>
            <a:ext cx="11065823" cy="5661561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/ Pipeline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Workflow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Extraction: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 discharge summaries from 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MIMIC-IV (2023)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Recognition – </a:t>
            </a:r>
            <a:r>
              <a:rPr lang="en-US" alt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cTAKES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CUIs + SNOMED terms (including negations).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Path: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 → Bag-of-Words → Random Forest → ICD-10 prediction.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SNOMED Mapping Path: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SNOMED concepts → Official mapping → ICD-10 prediction.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Comparison: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ML and SNOMED outputs and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dentify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overlaps and false negatives (802 “hard cases”).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Evaluation Path: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 hard cases to ChatGPT-3.5 and GPT-4 for classification.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Validation: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professional coders label same 100-sample subset.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Visualization: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accuracy &amp; F1; visualize with Venn diagrams and bar charts.</a:t>
            </a:r>
          </a:p>
          <a:p>
            <a:pPr marL="54864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</a:t>
            </a:r>
            <a:r>
              <a:rPr lang="en-US" alt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cTAKES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(UIMA) – entity extraction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scikit-learn, pandas – ML pipeline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SNOMED mapping files – terminology alignment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API – GPT evaluation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73930B6-EA1A-4CE6-F160-66289ED57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13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B50D993-8EE2-961A-980B-7D34BD4D6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974" y="1229064"/>
            <a:ext cx="10175958" cy="434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Evaluation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MIMIC-IV (331 k summaries, 145 k patients).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Top 5 ICD-10 Level-3 categories (balanced binary datasets).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Tri-Stage Framework: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+ SNOMED → identify hard cases → LLM &amp; Human comparison.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not fine-tuned (only zero-shot).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top 5 ICD categories.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human comparison subset.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explainability or CAC integration yet.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discussion of HIPAA/GDPR compliance.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17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BCCF9-5C22-14F3-11CB-5484E43D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8754B-6B46-9592-B05A-F6A6CDF13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11927"/>
            <a:ext cx="10058400" cy="400198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Process-aware LLM + Graph Fusion for Clinical Concept Linking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Linking MIMIC clinical mentions → SNOMED CT using LLM reasoning, ontology graph embeddings, and object-centric process context (OMOP→OCEL)</a:t>
            </a:r>
          </a:p>
          <a:p>
            <a:pPr lvl="1"/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accurate, auditable mapping (including rare concepts), ontology augmentation, and clinician-in-the-loop correction.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solution?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 end-to-end fusion of: LLM reasoning + graph embeddings + object-centric process context.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mappings for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rare concepts and process-disambiguation (e.g., lab vs. diagnosis vs. procedure mentions).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 audit bundles: LLM rationale + provenance + process snippet for clinician trust &amp; regulatory needs.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 ontology augmentation (proposing missing SNOMED relations).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493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2AA4ED4-2DCE-65CF-985D-FE7418828E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1901" y="1184632"/>
            <a:ext cx="1028403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prior work gives: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vs Human (Mar 2025)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prompting recipes, few-shot protocols, evaluation bench for LLM vs clinicians, and LLM rationale templates.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ICD2Vec (May 2023)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ideas for learning dense code/disease embeddings, cosine-based similarity, and downstream risk-style tasks (adapt to SNOMED).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AnnoDash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(Oct 2023)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human-in-the-loop UI, candidate retrieval + visualization patterns, annotation workflow, and collecting clinician feedback for active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OMOP → OCEL (Aug 2024)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object-centric process extraction pipeline → temporal/object features for re-ranker inputs.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ICHI 2025 (Is-A static/dynamic embeddings)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transformer text-pair classifiers, training on historical snapshots for temporal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2025 (TransE multi-relation)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graph embedding approach and multi-relation prediction for proposing new relations at scale.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850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BC6A-9D3E-3F20-86AC-B5FF504A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32AFE-4A11-2D8F-2F13-17187BAD8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8"/>
            <a:ext cx="10686723" cy="405079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ICD2Vec: Mathematical representation of diseases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https://www.sciencedirect.com/science/article/pii/S1532046423000825#s0020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AnnoDash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clinical terminology annotation dashboard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https://pubmed.ncbi.nlm.nih.gov/37425489/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healthcare process analysis through object-centric process mining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https://www.sciencedirect.com/science/article/pii/S153204642400100X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vs human for classifying clinical documents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https://www.sciencedirect.com/science/article/pii/S1386505625000176?via%3Dihub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4971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657</TotalTime>
  <Words>2301</Words>
  <Application>Microsoft Macintosh PowerPoint</Application>
  <PresentationFormat>Widescreen</PresentationFormat>
  <Paragraphs>318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Calibri</vt:lpstr>
      <vt:lpstr>Rockwell</vt:lpstr>
      <vt:lpstr>Rockwell Condensed</vt:lpstr>
      <vt:lpstr>Rockwell Extra Bold</vt:lpstr>
      <vt:lpstr>Times New Roman</vt:lpstr>
      <vt:lpstr>Wingdings</vt:lpstr>
      <vt:lpstr>Wood Type</vt:lpstr>
      <vt:lpstr>Snomed CT + Mimic Integration</vt:lpstr>
      <vt:lpstr>ICD2Vec: Mathematical representation of diseases(May 2023) </vt:lpstr>
      <vt:lpstr>PowerPoint Presentation</vt:lpstr>
      <vt:lpstr>PowerPoint Presentation</vt:lpstr>
      <vt:lpstr>PowerPoint Presentation</vt:lpstr>
      <vt:lpstr>AnnoDash, a clinical terminology annotation dashboard(oct 2023) </vt:lpstr>
      <vt:lpstr>PowerPoint Presentation</vt:lpstr>
      <vt:lpstr>PowerPoint Presentation</vt:lpstr>
      <vt:lpstr>PowerPoint Presentation</vt:lpstr>
      <vt:lpstr>Enhancing healthcare process analysis through object-centric process mining: Transforming OMOP common data models into object-centric event logs(Aug 2024) </vt:lpstr>
      <vt:lpstr>PowerPoint Presentation</vt:lpstr>
      <vt:lpstr>PowerPoint Presentation</vt:lpstr>
      <vt:lpstr>PowerPoint Presentation</vt:lpstr>
      <vt:lpstr>Large language models vs human for classifying clinical document(Mar 2025) </vt:lpstr>
      <vt:lpstr>PowerPoint Presentation</vt:lpstr>
      <vt:lpstr>PowerPoint Presentation</vt:lpstr>
      <vt:lpstr>Proposed solutions:</vt:lpstr>
      <vt:lpstr>PowerPoint Presentation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Shoyeb Lnu</dc:creator>
  <cp:lastModifiedBy>Mohammed Shoyeb Lnu</cp:lastModifiedBy>
  <cp:revision>4</cp:revision>
  <dcterms:created xsi:type="dcterms:W3CDTF">2025-10-14T01:24:55Z</dcterms:created>
  <dcterms:modified xsi:type="dcterms:W3CDTF">2025-10-14T12:23:21Z</dcterms:modified>
</cp:coreProperties>
</file>